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 (°C)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Z1</c:v>
                  </c:pt>
                  <c:pt idx="1">
                    <c:v>Z2</c:v>
                  </c:pt>
                  <c:pt idx="2">
                    <c:v>Z3</c:v>
                  </c:pt>
                  <c:pt idx="3">
                    <c:v>Z4</c:v>
                  </c:pt>
                  <c:pt idx="4">
                    <c:v>Z5</c:v>
                  </c:pt>
                  <c:pt idx="5">
                    <c:v>Z6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36</c:v>
                </c:pt>
                <c:pt idx="2">
                  <c:v>68</c:v>
                </c:pt>
                <c:pt idx="3">
                  <c:v>33</c:v>
                </c:pt>
                <c:pt idx="4">
                  <c:v>35</c:v>
                </c:pt>
                <c:pt idx="5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530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0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530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F33"/>
        </a:solidFill>
        <a:ln>
          <a:noFill/>
        </a:ln>
        <a:effectLst/>
      </c:spPr>
    </c:plotArea>
    <c:plotVisOnly val="1"/>
    <c:dispBlanksAs val="span"/>
  </c:chart>
  <c:spPr>
    <a:solidFill>
      <a:srgbClr val="181F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 events</c:v>
                </c:pt>
              </c:strCache>
            </c:strRef>
          </c:tx>
          <c:spPr>
            <a:solidFill>
              <a:srgbClr val="22C55E"/>
            </a:solidFill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530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30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5305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F33"/>
        </a:solidFill>
        <a:ln>
          <a:noFill/>
        </a:ln>
        <a:effectLst/>
      </c:spPr>
    </c:plotArea>
    <c:plotVisOnly val="1"/>
    <c:dispBlanksAs val="span"/>
  </c:chart>
  <c:spPr>
    <a:solidFill>
      <a:srgbClr val="181F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2.png"/><Relationship Id="rId5" Type="http://schemas.openxmlformats.org/officeDocument/2006/relationships/image" Target="../media/image-11-5.png"/><Relationship Id="rId6" Type="http://schemas.openxmlformats.org/officeDocument/2006/relationships/image" Target="../media/image-11-2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4.png"/><Relationship Id="rId7" Type="http://schemas.openxmlformats.org/officeDocument/2006/relationships/image" Target="../media/image-12-7.png"/><Relationship Id="rId8" Type="http://schemas.openxmlformats.org/officeDocument/2006/relationships/image" Target="../media/image-12-4.png"/><Relationship Id="rId9" Type="http://schemas.openxmlformats.org/officeDocument/2006/relationships/image" Target="../media/image-12-9.png"/><Relationship Id="rId10" Type="http://schemas.openxmlformats.org/officeDocument/2006/relationships/image" Target="../media/image-12-4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6" Type="http://schemas.openxmlformats.org/officeDocument/2006/relationships/image" Target="../media/image-13-3.png"/><Relationship Id="rId7" Type="http://schemas.openxmlformats.org/officeDocument/2006/relationships/image" Target="../media/image-13-1.png"/><Relationship Id="rId8" Type="http://schemas.openxmlformats.org/officeDocument/2006/relationships/image" Target="../media/image-13-7.png"/><Relationship Id="rId9" Type="http://schemas.openxmlformats.org/officeDocument/2006/relationships/image" Target="../media/image-13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2.png"/><Relationship Id="rId5" Type="http://schemas.openxmlformats.org/officeDocument/2006/relationships/image" Target="../media/image-14-5.png"/><Relationship Id="rId6" Type="http://schemas.openxmlformats.org/officeDocument/2006/relationships/image" Target="../media/image-14-2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2.png"/><Relationship Id="rId5" Type="http://schemas.openxmlformats.org/officeDocument/2006/relationships/image" Target="../media/image-16-5.png"/><Relationship Id="rId6" Type="http://schemas.openxmlformats.org/officeDocument/2006/relationships/image" Target="../media/image-16-2.png"/><Relationship Id="rId7" Type="http://schemas.openxmlformats.org/officeDocument/2006/relationships/image" Target="../media/image-16-7.png"/><Relationship Id="rId8" Type="http://schemas.openxmlformats.org/officeDocument/2006/relationships/image" Target="../media/image-16-2.png"/><Relationship Id="rId9" Type="http://schemas.openxmlformats.org/officeDocument/2006/relationships/image" Target="../media/image-16-9.png"/><Relationship Id="rId10" Type="http://schemas.openxmlformats.org/officeDocument/2006/relationships/image" Target="../media/image-16-2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fire_r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19695" y="-822960"/>
            <a:ext cx="5120640" cy="5120640"/>
          </a:xfrm>
          <a:prstGeom prst="rect">
            <a:avLst/>
          </a:prstGeom>
        </p:spPr>
      </p:pic>
      <p:pic>
        <p:nvPicPr>
          <p:cNvPr id="3" name="Image 1" descr="/home/claude/icons/sitemap_cyan.png">    </p:cNvPr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-1097280" y="3931920"/>
            <a:ext cx="384048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417320"/>
            <a:ext cx="777240" cy="77724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5" name="Image 2" descr="/home/claude/icons/fi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9" y="1592199"/>
            <a:ext cx="427482" cy="42748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02920" y="23317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FIRE</a:t>
            </a:r>
            <a:endParaRPr lang="en-US" sz="5400" dirty="0"/>
          </a:p>
        </p:txBody>
      </p:sp>
      <p:sp>
        <p:nvSpPr>
          <p:cNvPr id="7" name="Text 2"/>
          <p:cNvSpPr/>
          <p:nvPr/>
        </p:nvSpPr>
        <p:spPr>
          <a:xfrm>
            <a:off x="502920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MONITORING SYSTEM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502920" y="3794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edge detection to real-time response, communication and data.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02920" y="4526280"/>
            <a:ext cx="909828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0" name="Image 3" descr="/home/claude/icons/chip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626864"/>
            <a:ext cx="219456" cy="219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4526280"/>
            <a:ext cx="5257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1613916" y="4526280"/>
            <a:ext cx="804672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4" descr="/home/claude/icons/broadcas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644" y="4626864"/>
            <a:ext cx="219456" cy="219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79676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2619756" y="4526280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16" name="Image 5" descr="/home/claude/icons/projectdiagram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9484" y="462686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985516" y="4526280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046220" y="4526280"/>
            <a:ext cx="1330452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9" name="Image 6" descr="/home/claude/icons/chartlin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948" y="4626864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411980" y="4526280"/>
            <a:ext cx="946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502920" y="5623560"/>
            <a:ext cx="2011680" cy="0"/>
          </a:xfrm>
          <a:prstGeom prst="line">
            <a:avLst/>
          </a:prstGeom>
          <a:noFill/>
          <a:ln w="12700">
            <a:solidFill>
              <a:srgbClr val="253052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50292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24" name="Text 15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factory fire system needs more than a single alarm.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7" name="Image 0" descr="/home/claude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3202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3026664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heat as early as possible.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3685032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630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locally without waiting for a remote server.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343400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288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critical alerts across nearby zones.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5001768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946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digital record for later analysis.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18745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9" name="Image 1" descr="/home/claude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32029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Objective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583680" y="2971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2" name="Image 2" descr="/home/claude/icons/bol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30906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22592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281160" y="297180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5" name="Image 3" descr="/home/claude/icons/mapmark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309067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20072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583680" y="356616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8" name="Image 4" descr="/home/claude/icons/wifi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368503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22592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281160" y="3566160"/>
            <a:ext cx="2514600" cy="45720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31" name="Image 5" descr="/home/claude/icons/clipboard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368503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20072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583680" y="4343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architecture where each zone can sense and respond independently, while MQTT and Node-RED provide the monitoring layer.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PRESENTATION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Technical Layers, One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→  Detection  →  Response  →  Communication  →  Data &amp; Results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306324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0" descr="/home/claude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246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4069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50" dirty="0"/>
          </a:p>
        </p:txBody>
      </p:sp>
      <p:pic>
        <p:nvPicPr>
          <p:cNvPr id="10" name="Image 1" descr="/home/claude/icons/arrowright_white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2624328" y="379476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62072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862072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02152" y="3063240"/>
            <a:ext cx="731520" cy="7315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4" name="Image 2" descr="/home/claude/icons/thermome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3246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35224" y="4069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350" dirty="0"/>
          </a:p>
        </p:txBody>
      </p:sp>
      <p:pic>
        <p:nvPicPr>
          <p:cNvPr id="16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4892040" y="3794760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129784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129784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769864" y="3063240"/>
            <a:ext cx="731520" cy="73152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20" name="Image 4" descr="/home/claude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32461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02936" y="4069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350" dirty="0"/>
          </a:p>
        </p:txBody>
      </p:sp>
      <p:pic>
        <p:nvPicPr>
          <p:cNvPr id="22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7159752" y="3794760"/>
            <a:ext cx="219456" cy="21945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397496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397496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8037576" y="306324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6" descr="/home/claude/icons/broadcas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324612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70648" y="4069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50" dirty="0"/>
          </a:p>
        </p:txBody>
      </p:sp>
      <p:pic>
        <p:nvPicPr>
          <p:cNvPr id="28" name="Image 7" descr="/home/claude/icons/arrowright_white.png">    </p:cNvPr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9427464" y="3794760"/>
            <a:ext cx="219456" cy="21945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665208" y="237744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9665208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10305288" y="306324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2" name="Image 8" descr="/home/claude/icons/databas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8168" y="3246120"/>
            <a:ext cx="365760" cy="36576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738360" y="406908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50" dirty="0"/>
          </a:p>
        </p:txBody>
      </p:sp>
      <p:sp>
        <p:nvSpPr>
          <p:cNvPr id="34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5" name="Text 24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Zones, Broker &amp;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is autonomous at the edge; the network layer connects zones and the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— Architecture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231343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/home/claude/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46020"/>
            <a:ext cx="26517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2768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5877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ESP32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20040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" y="336499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4" name="Image 1" descr="/home/claude/icons/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497580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33284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325880" y="363931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ESP32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425196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7512" y="4416552"/>
            <a:ext cx="530352" cy="53035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9" name="Image 2" descr="/home/claude/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549140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3799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25880" y="469087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ESP32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977640" y="21488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206240" y="2331720"/>
            <a:ext cx="502920" cy="50292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24" name="Image 3" descr="/home/claude/icons/bel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970" y="245745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4632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RESPONSE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206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• LED • Relay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977640" y="37947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206240" y="39776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9" name="Image 4" descr="/home/claude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970" y="4103370"/>
            <a:ext cx="251460" cy="2514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846320" y="3931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20624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message layer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1780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406640" y="3154680"/>
            <a:ext cx="502920" cy="5029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4" name="Image 5" descr="/home/claude/icons/projectdiagra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370" y="3280410"/>
            <a:ext cx="251460" cy="2514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04672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74066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• Display • Notify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017520" y="2578608"/>
            <a:ext cx="960120" cy="283464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017520" y="3630168"/>
            <a:ext cx="960120" cy="-768096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017520" y="4681728"/>
            <a:ext cx="960120" cy="-1819656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583680" y="4480560"/>
            <a:ext cx="594360" cy="-82296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42" name="Text 34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ZONE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Repeated Unit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ESP32 → Fire Decision → Local Response → MQTT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1348" y="2907792"/>
            <a:ext cx="694944" cy="69494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/home/claude/icons/thermome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30815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/ flame</a:t>
            </a:r>
            <a:endParaRPr lang="en-US" sz="1050" dirty="0"/>
          </a:p>
        </p:txBody>
      </p:sp>
      <p:pic>
        <p:nvPicPr>
          <p:cNvPr id="10" name="Image 1" descr="/home/claude/icons/arrowright_white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236976" y="342900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20440" y="265176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84548" y="2907792"/>
            <a:ext cx="694944" cy="69494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2" descr="/home/claude/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284" y="308152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2044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decide</a:t>
            </a:r>
            <a:endParaRPr lang="en-US" sz="1050" dirty="0"/>
          </a:p>
        </p:txBody>
      </p:sp>
      <p:pic>
        <p:nvPicPr>
          <p:cNvPr id="16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5980176" y="342900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63640" y="265176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127748" y="2907792"/>
            <a:ext cx="694944" cy="694944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19" name="Image 4" descr="/home/claude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308152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6364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26364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+ relay</a:t>
            </a:r>
            <a:endParaRPr lang="en-US" sz="1050" dirty="0"/>
          </a:p>
        </p:txBody>
      </p:sp>
      <p:pic>
        <p:nvPicPr>
          <p:cNvPr id="22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723376" y="3429000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006840" y="265176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870948" y="2907792"/>
            <a:ext cx="694944" cy="694944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5" name="Image 6" descr="/home/claude/icons/broadcas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4684" y="308152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684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900684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alert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777240" y="4892040"/>
            <a:ext cx="10652760" cy="640080"/>
          </a:xfrm>
          <a:prstGeom prst="roundRect">
            <a:avLst>
              <a:gd name="adj" fmla="val 11429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777240" y="489204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 →  ESP32  →  Fire Decision  →  Local Response  →  MQTT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HARDWARE AT THE EDGE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Wokwi / ESP32 Build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NTC sensor, relay, buzzer, LEDs and switch wired to dedicated GPIO pins.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— Hardware Build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/home/claude/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146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50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4256" y="2148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62856" y="2377440"/>
            <a:ext cx="548640" cy="54864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4" name="Image 1" descr="/home/claude/icons/thermome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5146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48656" y="2350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Temperature Sensor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62856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temperature input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65592" y="214884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94192" y="2377440"/>
            <a:ext cx="548640" cy="54864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19" name="Image 2" descr="/home/claude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5146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79992" y="2350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94192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response output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913632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4142232"/>
            <a:ext cx="548640" cy="54864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24" name="Image 3" descr="/home/claude/icons/volum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939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1520" y="48280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local alarm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34256" y="3913632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62856" y="4142232"/>
            <a:ext cx="548640" cy="54864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9" name="Image 4" descr="/home/claude/icons/light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427939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48656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Indicators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62856" y="48280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system status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165592" y="3913632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94192" y="4142232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5" descr="/home/claude/icons/togg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27939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079992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Switch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394192" y="48280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 / control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FIRE DETECTION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 &amp; Fire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logic:  Fire = Flame Detected  OR  Temperature ≥ 60°C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 — Sensors &amp; Detection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468880"/>
            <a:ext cx="502920" cy="5029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9" name="Image 0" descr="/home/claude/icons/thermome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818" y="259461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4088" y="3063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→ ESP32 ADC input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88620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4069080"/>
            <a:ext cx="502920" cy="50292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14" name="Image 1" descr="/home/claude/icons/fi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" y="419481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 SENSOR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04088" y="4663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analog fire cue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30632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181F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97880" y="3246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/home/claude/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3832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DECISION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091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compare → classify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366760" y="30632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181F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555480" y="324612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4" name="Image 3" descr="/home/claude/icons/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33832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667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STATE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6676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FIRE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794760" y="2971800"/>
            <a:ext cx="914400" cy="795528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794760" y="4572000"/>
            <a:ext cx="914400" cy="-804672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35240" y="3767328"/>
            <a:ext cx="731520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DETECTION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Reading to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sensor reading from the fire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313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3134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8" name="Image 0" descr="/home/claud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2427732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" y="31546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samples the sensor input.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7764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78808" y="2313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46520" y="23134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4" name="Image 1" descr="/home/claude/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427732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78808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178808" y="31546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evaluated against a threshold.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52360" y="2148840"/>
            <a:ext cx="3246120" cy="1965960"/>
          </a:xfrm>
          <a:prstGeom prst="roundRect">
            <a:avLst>
              <a:gd name="adj" fmla="val 3721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53528" y="2313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21240" y="2313432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0" name="Image 2" descr="/home/claude/icons/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242773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53528" y="27432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653528" y="3154680"/>
            <a:ext cx="2843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converts raw readings into a system state.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4434840"/>
            <a:ext cx="10195560" cy="1691640"/>
          </a:xfrm>
          <a:prstGeom prst="roundRect">
            <a:avLst>
              <a:gd name="adj" fmla="val 4324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4590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THRESHOLDS MATTER</a:t>
            </a:r>
            <a:endParaRPr lang="en-US" sz="1200" dirty="0"/>
          </a:p>
        </p:txBody>
      </p:sp>
      <p:pic>
        <p:nvPicPr>
          <p:cNvPr id="25" name="Image 3" descr="/home/claude/icons/warning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2920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6424" y="4974336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77240" y="5349240"/>
            <a:ext cx="321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050" dirty="0"/>
          </a:p>
        </p:txBody>
      </p:sp>
      <p:pic>
        <p:nvPicPr>
          <p:cNvPr id="28" name="Image 4" descr="/home/claude/icons/checkcircl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0040" y="502920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59224" y="4974336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130040" y="5349240"/>
            <a:ext cx="321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+ reliable response</a:t>
            </a:r>
            <a:endParaRPr lang="en-US" sz="1050" dirty="0"/>
          </a:p>
        </p:txBody>
      </p:sp>
      <p:pic>
        <p:nvPicPr>
          <p:cNvPr id="31" name="Image 5" descr="/home/claude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840" y="50292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812024" y="4974336"/>
            <a:ext cx="284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482840" y="5349240"/>
            <a:ext cx="321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LOCAL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Detected → Immediate 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action happens first — communication follows.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 — ESP32 Response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81F33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2514600"/>
            <a:ext cx="914400" cy="91440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9" name="Image 0" descr="/home/claude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743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657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 at the edge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0" y="2148840"/>
            <a:ext cx="1783080" cy="33832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6300" y="2423160"/>
            <a:ext cx="640080" cy="64008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4" name="Image 1" descr="/home/claude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831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206240" y="38404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connected output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46120" y="3840480"/>
            <a:ext cx="868680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62472" y="2148840"/>
            <a:ext cx="1783080" cy="33832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33972" y="2423160"/>
            <a:ext cx="640080" cy="64008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20" name="Image 2" descr="/home/claude/icons/volum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5831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53912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53912" y="38404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warning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46120" y="3840480"/>
            <a:ext cx="18288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010144" y="2148840"/>
            <a:ext cx="1783080" cy="33832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81644" y="2423160"/>
            <a:ext cx="640080" cy="64008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6" name="Image 3" descr="/home/claude/icons/lightbul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258318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101584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LED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101584" y="38404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warning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3840480"/>
            <a:ext cx="18288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57816" y="2148840"/>
            <a:ext cx="1783080" cy="33832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529316" y="242316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2" name="Image 4" descr="/home/claude/icons/broadcas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9336" y="2583180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49256" y="32461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ALERT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10049256" y="384048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246120" y="3840480"/>
            <a:ext cx="18288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ZONE-TO-ZONE ALERTS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Fire, Every Neighbor Warned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once → multiple subscribed zones can react.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81F33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7" name="Image 0" descr="/home/claude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71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DETECTED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152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factory/zone1/alert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288036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181F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303580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/home/claude/icons/broadca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70" y="3161538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3657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823960" y="21488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06840" y="23317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/home/claude/icons/wif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570" y="24574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469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64692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823960" y="37490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06840" y="393192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2" name="Image 3" descr="/home/claude/icons/wif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0" y="40576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4692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64692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337560" y="3520440"/>
            <a:ext cx="1554480" cy="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0" y="3520440"/>
            <a:ext cx="1508760" cy="-91440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15200" y="3520440"/>
            <a:ext cx="1508760" cy="868680"/>
          </a:xfrm>
          <a:prstGeom prst="line">
            <a:avLst/>
          </a:prstGeom>
          <a:noFill/>
          <a:ln w="15875">
            <a:solidFill>
              <a:srgbClr val="25305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MQTT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/ Subscribe Messaging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publish/subscribe messaging keeps the zones decoupled from the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 — MQTT &amp; Node-RED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7068" y="2999232"/>
            <a:ext cx="694944" cy="694944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9" name="Image 0" descr="/home/claude/icons/chi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804" y="31729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ZONES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4206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Subscribe</a:t>
            </a:r>
            <a:endParaRPr lang="en-US" sz="1000" dirty="0"/>
          </a:p>
        </p:txBody>
      </p:sp>
      <p:pic>
        <p:nvPicPr>
          <p:cNvPr id="12" name="Image 1" descr="/home/claude/icons/arrowright_white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328416" y="356616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11880" y="2743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1708" y="2999232"/>
            <a:ext cx="694944" cy="69494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/home/claude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317296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HIVEMQ BROKER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11880" y="4206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routing</a:t>
            </a:r>
            <a:endParaRPr lang="en-US" sz="1000" dirty="0"/>
          </a:p>
        </p:txBody>
      </p:sp>
      <p:pic>
        <p:nvPicPr>
          <p:cNvPr id="18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163056" y="3566160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46520" y="2743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356348" y="2999232"/>
            <a:ext cx="694944" cy="694944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1" name="Image 4" descr="/home/claude/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4" y="317296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4652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NODE-RED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46520" y="4206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pic>
        <p:nvPicPr>
          <p:cNvPr id="24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997696" y="356616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81160" y="274320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0190988" y="2999232"/>
            <a:ext cx="694944" cy="694944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7" name="Image 6" descr="/home/claude/icons/tachomet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4724" y="3172968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8116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9281160" y="4206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TOPICS &amp; MESSAGE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vs. Critical Alerts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broker can carry both periodic telemetry and event-driven alerts.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/home/claude/icons/databas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4871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factory/zone1/telemetry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04088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/ status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39776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81F33"/>
          </a:solidFill>
          <a:ln w="12700">
            <a:solidFill>
              <a:srgbClr val="FF4B3E"/>
            </a:solidFill>
            <a:prstDash val="solid"/>
          </a:ln>
        </p:spPr>
      </p:sp>
      <p:pic>
        <p:nvPicPr>
          <p:cNvPr id="10" name="Image 1" descr="/home/claude/icons/warning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17880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factory/zone1/alert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04088" y="4937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fire event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794760" y="2286000"/>
            <a:ext cx="7863840" cy="3063240"/>
          </a:xfrm>
          <a:prstGeom prst="roundRect">
            <a:avLst>
              <a:gd name="adj" fmla="val 2388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6908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PIPELINE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07992" y="297180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6" name="Image 2" descr="/home/claude/icons/wif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11810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050" dirty="0"/>
          </a:p>
        </p:txBody>
      </p:sp>
      <p:pic>
        <p:nvPicPr>
          <p:cNvPr id="18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495544" y="3172968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016752" y="297180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0" name="Image 4" descr="/home/claude/icons/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3118104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2356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50" dirty="0"/>
          </a:p>
        </p:txBody>
      </p:sp>
      <p:pic>
        <p:nvPicPr>
          <p:cNvPr id="22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7004304" y="3172968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525512" y="297180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4" name="Image 6" descr="/home/claude/icons/sitema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3118104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3232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pic>
        <p:nvPicPr>
          <p:cNvPr id="26" name="Image 7" descr="/home/claude/icons/arrowright_white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8513064" y="3172968"/>
            <a:ext cx="182880" cy="18288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034272" y="297180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8" name="Image 8" descr="/home/claude/icons/tachomet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0576" y="3118104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64108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50" dirty="0"/>
          </a:p>
        </p:txBody>
      </p:sp>
      <p:pic>
        <p:nvPicPr>
          <p:cNvPr id="30" name="Image 9" descr="/home/claude/icons/arrowright_white.png">    </p:cNvPr>
          <p:cNvPicPr>
            <a:picLocks noChangeAspect="1"/>
          </p:cNvPicPr>
          <p:nvPr/>
        </p:nvPicPr>
        <p:blipFill>
          <a:blip r:embed="rId10">
            <a:alphaModFix amt="80000"/>
          </a:blip>
          <a:stretch>
            <a:fillRect/>
          </a:stretch>
        </p:blipFill>
        <p:spPr>
          <a:xfrm>
            <a:off x="10021824" y="3172968"/>
            <a:ext cx="182880" cy="18288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10543032" y="297180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2" name="Image 10" descr="/home/claude/icons/bell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9336" y="3118104"/>
            <a:ext cx="292608" cy="29260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014984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050" dirty="0"/>
          </a:p>
        </p:txBody>
      </p:sp>
      <p:sp>
        <p:nvSpPr>
          <p:cNvPr id="34" name="Text 21"/>
          <p:cNvSpPr/>
          <p:nvPr/>
        </p:nvSpPr>
        <p:spPr>
          <a:xfrm>
            <a:off x="4114800" y="41605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broker can carry both periodic telemetry and event-driven alerts, routed by topic.</a:t>
            </a:r>
            <a:endParaRPr lang="en-US" sz="1150" dirty="0"/>
          </a:p>
        </p:txBody>
      </p:sp>
      <p:sp>
        <p:nvSpPr>
          <p:cNvPr id="35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6" name="Text 23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|  NODE-RED &amp;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MQTT into an Operational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183112" cy="4206240"/>
          </a:xfrm>
          <a:prstGeom prst="roundRect">
            <a:avLst>
              <a:gd name="adj" fmla="val 1739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SAFETY MONITOR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098280" y="2157984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281160" y="2029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ONLINE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018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340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1100" dirty="0"/>
          </a:p>
        </p:txBody>
      </p:sp>
      <p:pic>
        <p:nvPicPr>
          <p:cNvPr id="10" name="Image 0" descr="/home/claude/icons/checkcircle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08152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474720" y="2606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018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27340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1100" dirty="0"/>
          </a:p>
        </p:txBody>
      </p:sp>
      <p:pic>
        <p:nvPicPr>
          <p:cNvPr id="14" name="Image 1" descr="/home/claude/icons/checkcircl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8152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41648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72200" y="2606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0182B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55080" y="27340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1100" dirty="0"/>
          </a:p>
        </p:txBody>
      </p:sp>
      <p:pic>
        <p:nvPicPr>
          <p:cNvPr id="18" name="Image 2" descr="/home/claude/icons/warning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8152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39128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869680" y="26060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0182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052560" y="273405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</a:t>
            </a:r>
            <a:endParaRPr lang="en-US" sz="1100" dirty="0"/>
          </a:p>
        </p:txBody>
      </p:sp>
      <p:pic>
        <p:nvPicPr>
          <p:cNvPr id="22" name="Image 3" descr="/home/claude/icons/checkcircle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0815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36608" y="3063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TEMPERATURE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85800" y="4114800"/>
          <a:ext cx="46634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Shape 19"/>
          <p:cNvSpPr/>
          <p:nvPr/>
        </p:nvSpPr>
        <p:spPr>
          <a:xfrm>
            <a:off x="5806440" y="3840480"/>
            <a:ext cx="5605272" cy="2011680"/>
          </a:xfrm>
          <a:prstGeom prst="roundRect">
            <a:avLst>
              <a:gd name="adj" fmla="val 3636"/>
            </a:avLst>
          </a:prstGeom>
          <a:solidFill>
            <a:srgbClr val="10182B"/>
          </a:solidFill>
          <a:ln w="12700">
            <a:solidFill>
              <a:srgbClr val="253052"/>
            </a:solidFill>
            <a:prstDash val="solid"/>
          </a:ln>
        </p:spPr>
      </p:sp>
      <p:pic>
        <p:nvPicPr>
          <p:cNvPr id="27" name="Image 4" descr="/home/claude/icons/warning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023360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01384" y="4005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pic>
        <p:nvPicPr>
          <p:cNvPr id="29" name="Image 5" descr="/home/claude/icons/checkcircl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4023360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53144" y="4005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status</a:t>
            </a:r>
            <a:endParaRPr lang="en-US" sz="1200" dirty="0"/>
          </a:p>
        </p:txBody>
      </p:sp>
      <p:pic>
        <p:nvPicPr>
          <p:cNvPr id="31" name="Image 6" descr="/home/claude/icons/wifi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4800600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501384" y="4782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200" dirty="0"/>
          </a:p>
        </p:txBody>
      </p:sp>
      <p:pic>
        <p:nvPicPr>
          <p:cNvPr id="33" name="Image 7" descr="/home/claude/icons/clipboard_amb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4800600"/>
            <a:ext cx="310896" cy="31089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153144" y="4782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history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6" name="Text 25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|  DATA LOGGING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Storage &amp;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a traceable history instead of treating each alarm as an isolated event.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5 — Data &amp; Analytics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5356" y="237744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0" descr="/home/claude/icons/broadca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948" y="254203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EVENT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telemetry</a:t>
            </a:r>
            <a:endParaRPr lang="en-US" sz="950" dirty="0"/>
          </a:p>
        </p:txBody>
      </p:sp>
      <p:pic>
        <p:nvPicPr>
          <p:cNvPr id="12" name="Image 1" descr="/home/claude/icons/arrowright_white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328416" y="292608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11880" y="21488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39996" y="2377440"/>
            <a:ext cx="658368" cy="658368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5" name="Image 2" descr="/home/claude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88" y="254203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0332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+ zone + state</a:t>
            </a:r>
            <a:endParaRPr lang="en-US" sz="950" dirty="0"/>
          </a:p>
        </p:txBody>
      </p:sp>
      <p:pic>
        <p:nvPicPr>
          <p:cNvPr id="18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163056" y="2926080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446520" y="21488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374636" y="2377440"/>
            <a:ext cx="658368" cy="65836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1" name="Image 4" descr="/home/claude/icons/tab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228" y="2542032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4652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53796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event file</a:t>
            </a:r>
            <a:endParaRPr lang="en-US" sz="950" dirty="0"/>
          </a:p>
        </p:txBody>
      </p:sp>
      <p:pic>
        <p:nvPicPr>
          <p:cNvPr id="24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997696" y="2926080"/>
            <a:ext cx="23774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81160" y="21488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0209276" y="2377440"/>
            <a:ext cx="658368" cy="658368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7" name="Image 6" descr="/home/claude/icons/chartlin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868" y="2542032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28116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937260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+ decisions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777240" y="4343400"/>
            <a:ext cx="11018520" cy="1417320"/>
          </a:xfrm>
          <a:prstGeom prst="roundRect">
            <a:avLst>
              <a:gd name="adj" fmla="val 5161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1005840" y="4498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RECORD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005840" y="489204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  |   zone_id   |   temperature   |   flame_state   |   event_type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4" name="Text 25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|  DATA-DRIVEN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Events to Evidence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 become evidence for improving the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20440" cy="3886200"/>
          </a:xfrm>
          <a:prstGeom prst="roundRect">
            <a:avLst>
              <a:gd name="adj" fmla="val 2078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/home/claude/icons/chart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4917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MEASURE?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317296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fire events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67588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9784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temperature by zone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417880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978408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alerts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68172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3"/>
          <p:cNvSpPr/>
          <p:nvPr/>
        </p:nvSpPr>
        <p:spPr>
          <a:xfrm>
            <a:off x="97840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patterns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31520" y="5184648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5"/>
          <p:cNvSpPr/>
          <p:nvPr/>
        </p:nvSpPr>
        <p:spPr>
          <a:xfrm>
            <a:off x="978408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false alarms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17720" y="2148840"/>
            <a:ext cx="3200400" cy="3886200"/>
          </a:xfrm>
          <a:prstGeom prst="roundRect">
            <a:avLst>
              <a:gd name="adj" fmla="val 2286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09160" y="2697480"/>
          <a:ext cx="3017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846320" y="5623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zones over time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92440" y="2148840"/>
            <a:ext cx="3547872" cy="3886200"/>
          </a:xfrm>
          <a:prstGeom prst="roundRect">
            <a:avLst>
              <a:gd name="adj" fmla="val 2062"/>
            </a:avLst>
          </a:prstGeom>
          <a:solidFill>
            <a:srgbClr val="181F33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040" y="2377440"/>
            <a:ext cx="457200" cy="4572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5" name="Image 1" descr="/home/claude/icons/wren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49174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915400" y="23957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321040" y="3172968"/>
            <a:ext cx="100584" cy="10058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8" name="Text 23"/>
          <p:cNvSpPr/>
          <p:nvPr/>
        </p:nvSpPr>
        <p:spPr>
          <a:xfrm>
            <a:off x="8567928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321040" y="3675888"/>
            <a:ext cx="100584" cy="10058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0" name="Text 25"/>
          <p:cNvSpPr/>
          <p:nvPr/>
        </p:nvSpPr>
        <p:spPr>
          <a:xfrm>
            <a:off x="856792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risky zones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321040" y="4178808"/>
            <a:ext cx="100584" cy="10058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2" name="Text 27"/>
          <p:cNvSpPr/>
          <p:nvPr/>
        </p:nvSpPr>
        <p:spPr>
          <a:xfrm>
            <a:off x="8567928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response rules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21040" y="4681728"/>
            <a:ext cx="100584" cy="10058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4" name="Text 29"/>
          <p:cNvSpPr/>
          <p:nvPr/>
        </p:nvSpPr>
        <p:spPr>
          <a:xfrm>
            <a:off x="8567928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maintenance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321040" y="5184648"/>
            <a:ext cx="100584" cy="10058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6" name="Text 31"/>
          <p:cNvSpPr/>
          <p:nvPr/>
        </p:nvSpPr>
        <p:spPr>
          <a:xfrm>
            <a:off x="8567928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performance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|  END-TO-END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Event, From Signal to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local. Awareness is distributed. Data makes the system smarter.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01852" y="2834640"/>
            <a:ext cx="585216" cy="58521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8" name="Image 0" descr="/home/claude/icons/thermome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98094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world</a:t>
            </a:r>
            <a:endParaRPr lang="en-US" sz="950" dirty="0"/>
          </a:p>
        </p:txBody>
      </p:sp>
      <p:pic>
        <p:nvPicPr>
          <p:cNvPr id="11" name="Image 1" descr="/home/claude/icons/arrowright_white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2244852" y="3429000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3774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146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930652" y="2834640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/home/claude/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6" y="298094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774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3774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950" dirty="0"/>
          </a:p>
        </p:txBody>
      </p:sp>
      <p:pic>
        <p:nvPicPr>
          <p:cNvPr id="18" name="Image 3" descr="/home/claude/icons/arrowright_white.png">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4073652" y="3429000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2062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3434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59452" y="2834640"/>
            <a:ext cx="585216" cy="585216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22" name="Image 4" descr="/home/claude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56" y="298094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062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2062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action</a:t>
            </a:r>
            <a:endParaRPr lang="en-US" sz="950" dirty="0"/>
          </a:p>
        </p:txBody>
      </p:sp>
      <p:pic>
        <p:nvPicPr>
          <p:cNvPr id="25" name="Image 5" descr="/home/claude/icons/arrowright_white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5902452" y="3429000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0350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1722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588252" y="2834640"/>
            <a:ext cx="585216" cy="585216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9" name="Image 6" descr="/home/claude/icons/broadcas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4556" y="2980944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0350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0350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</a:t>
            </a:r>
            <a:endParaRPr lang="en-US" sz="950" dirty="0"/>
          </a:p>
        </p:txBody>
      </p:sp>
      <p:pic>
        <p:nvPicPr>
          <p:cNvPr id="32" name="Image 7" descr="/home/claude/icons/arrowright_white.png">    </p:cNvPr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7731252" y="3429000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8638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80010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8417052" y="2834640"/>
            <a:ext cx="585216" cy="585216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6" name="Image 8" descr="/home/claude/icons/tachometer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3356" y="2980944"/>
            <a:ext cx="292608" cy="2926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8638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8638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pic>
        <p:nvPicPr>
          <p:cNvPr id="39" name="Image 9" descr="/home/claude/icons/arrowright_white.png">    </p:cNvPr>
          <p:cNvPicPr>
            <a:picLocks noChangeAspect="1"/>
          </p:cNvPicPr>
          <p:nvPr/>
        </p:nvPicPr>
        <p:blipFill>
          <a:blip r:embed="rId10">
            <a:alphaModFix amt="75000"/>
          </a:blip>
          <a:stretch>
            <a:fillRect/>
          </a:stretch>
        </p:blipFill>
        <p:spPr>
          <a:xfrm>
            <a:off x="9560052" y="3429000"/>
            <a:ext cx="146304" cy="14630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692640" y="237744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982980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10245852" y="2834640"/>
            <a:ext cx="585216" cy="58521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3" name="Image 10" descr="/home/claude/icons/databas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92156" y="2980944"/>
            <a:ext cx="292608" cy="29260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692640" y="3611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96926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548640" y="5074920"/>
            <a:ext cx="10835640" cy="685800"/>
          </a:xfrm>
          <a:prstGeom prst="roundRect">
            <a:avLst>
              <a:gd name="adj" fmla="val 10667"/>
            </a:avLst>
          </a:prstGeom>
          <a:solidFill>
            <a:srgbClr val="181F33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548640" y="5074920"/>
            <a:ext cx="1083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local. Awareness is distributed. Data makes the system smarter.</a:t>
            </a:r>
            <a:endParaRPr lang="en-US" sz="1250" dirty="0"/>
          </a:p>
        </p:txBody>
      </p:sp>
      <p:sp>
        <p:nvSpPr>
          <p:cNvPr id="48" name="Text 3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49" name="Text 36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|  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Demo Sequence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the complete chain without explaining every screen.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265615" y="41148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65615" y="411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25880" y="23088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0" name="Image 0" descr="/home/claude/icons/thermome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24231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sensor condition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090672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9067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325880" y="325069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15" name="Image 1" descr="/home/claude/icons/chi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336499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65960" y="309067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classifies FIRE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403250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403250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1325880" y="419252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0" name="Image 2" descr="/home/claude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80" y="4306824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403250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 buzzer + LED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02920" y="4974336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497433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1325880" y="513435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5" name="Image 3" descr="/home/claude/icons/broadca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80" y="5248656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965960" y="497433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alert published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309360" y="21488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92240" y="21488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7132320" y="23088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0" name="Image 4" descr="/home/claude/icons/wifi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42316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772400" y="21488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 zone reacts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309360" y="3090672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492240" y="309067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7132320" y="325069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35" name="Image 5" descr="/home/claude/icons/tachome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3364992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772400" y="309067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 updates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309360" y="4032504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 w="12700">
            <a:solidFill>
              <a:srgbClr val="25305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492240" y="403250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9" name="Shape 31"/>
          <p:cNvSpPr/>
          <p:nvPr/>
        </p:nvSpPr>
        <p:spPr>
          <a:xfrm>
            <a:off x="7132320" y="419252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40" name="Image 6" descr="/home/claude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620" y="4306824"/>
            <a:ext cx="228600" cy="2286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772400" y="403250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is logged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|  FUTURE IMPROVEMENTS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a production-ready safety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621792" cy="62179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/home/claude/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5786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41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MULTI-SENSOR FUSION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temperature, flame and additional environmental signals.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2148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9672" y="2423160"/>
            <a:ext cx="621792" cy="621792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2" name="Image 1" descr="/home/claude/icons/bu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5786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42632" y="2441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DETECTION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19672" y="3200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disconnected sensors or abnormal readings.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42062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FF4B3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4480560"/>
            <a:ext cx="621792" cy="621792"/>
          </a:xfrm>
          <a:prstGeom prst="ellipse">
            <a:avLst/>
          </a:prstGeom>
          <a:solidFill>
            <a:srgbClr val="FF4B3E"/>
          </a:solidFill>
          <a:ln/>
        </p:spPr>
      </p:sp>
      <p:pic>
        <p:nvPicPr>
          <p:cNvPr id="17" name="Image 2" descr="/home/claude/icons/envel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63600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498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257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SMS / email / mobile notifications for critical events.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45352" y="42062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41B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9672" y="4480560"/>
            <a:ext cx="621792" cy="621792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22" name="Image 3" descr="/home/claude/icons/his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63600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44988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ANALYTICS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519672" y="52578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longer-term data to identify risk patterns.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question_cyan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619695" y="-82296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55448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" name="Image 1" descr="/home/claude/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1748790"/>
            <a:ext cx="388620" cy="3886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50292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technical layers. One safety system.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02920" y="4023360"/>
            <a:ext cx="1655064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2" descr="/home/claude/icons/sitema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123944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4023360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2340864" y="4023360"/>
            <a:ext cx="1367028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5B942"/>
            </a:solidFill>
            <a:prstDash val="solid"/>
          </a:ln>
        </p:spPr>
      </p:sp>
      <p:pic>
        <p:nvPicPr>
          <p:cNvPr id="11" name="Image 3" descr="/home/claude/icons/thermometer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4123944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06624" y="4023360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3890772" y="4023360"/>
            <a:ext cx="1271016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FF4B3E"/>
            </a:solidFill>
            <a:prstDash val="solid"/>
          </a:ln>
        </p:spPr>
      </p:sp>
      <p:pic>
        <p:nvPicPr>
          <p:cNvPr id="14" name="Image 4" descr="/home/claude/icons/bolt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412394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56532" y="4023360"/>
            <a:ext cx="886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5344668" y="4023360"/>
            <a:ext cx="1751076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5" descr="/home/claude/icons/broadcast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4123944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10428" y="4023360"/>
            <a:ext cx="13670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MQTT/Node-RED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7278624" y="4023360"/>
            <a:ext cx="886968" cy="420624"/>
          </a:xfrm>
          <a:prstGeom prst="roundRect">
            <a:avLst>
              <a:gd name="adj" fmla="val 50000"/>
            </a:avLst>
          </a:prstGeom>
          <a:solidFill>
            <a:srgbClr val="181F33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0" name="Image 6" descr="/home/claude/icons/database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4123944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44384" y="40233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502920" y="50292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/>
        </p:spPr>
      </p:sp>
      <p:sp>
        <p:nvSpPr>
          <p:cNvPr id="23" name="Text 14"/>
          <p:cNvSpPr/>
          <p:nvPr/>
        </p:nvSpPr>
        <p:spPr>
          <a:xfrm>
            <a:off x="502920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FIRE  •  SAFETY &amp; MONITORING SYSTEM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1095725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2026-09-03T19:30:23Z</dcterms:created>
  <dcterms:modified xsi:type="dcterms:W3CDTF">2026-09-03T19:30:23Z</dcterms:modified>
</cp:coreProperties>
</file>